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-1463040"/>
            <a:ext cx="4754880" cy="4754880"/>
          </a:xfrm>
          <a:prstGeom prst="ellipse">
            <a:avLst/>
          </a:prstGeom>
          <a:solidFill>
            <a:srgbClr val="1E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3566160"/>
            <a:ext cx="4206240" cy="4206240"/>
          </a:xfrm>
          <a:prstGeom prst="ellipse">
            <a:avLst/>
          </a:prstGeom>
          <a:solidFill>
            <a:srgbClr val="1E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0" y="5394960"/>
            <a:ext cx="2377440" cy="2377440"/>
          </a:xfrm>
          <a:prstGeom prst="ellipse">
            <a:avLst/>
          </a:prstGeom>
          <a:solidFill>
            <a:srgbClr val="28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47120" y="548640"/>
            <a:ext cx="1645920" cy="1645920"/>
          </a:xfrm>
          <a:prstGeom prst="ellipse">
            <a:avLst/>
          </a:prstGeom>
          <a:solidFill>
            <a:srgbClr val="28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A9BF0"/>
                </a:solidFill>
                <a:latin typeface="Microsoft YaHei"/>
                <a:ea typeface="Microsoft YaHei"/>
                <a:cs typeface="Microsoft YaHei"/>
              </a:rPr>
              <a:t>TEAM PROJECT  ·  THE CHOSEN 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353312"/>
            <a:ext cx="8778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SafePay Payment Processing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514600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93A4C8"/>
                </a:solidFill>
                <a:latin typeface="Microsoft YaHei"/>
                <a:ea typeface="Microsoft YaHei"/>
                <a:cs typeface="Microsoft YaHei"/>
              </a:rPr>
              <a:t>Financial Payment End-to-End Lifecycle Management — Create · Validate · Process · Audit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" y="3200400"/>
            <a:ext cx="64008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9536" y="3456432"/>
            <a:ext cx="6309360" cy="512064"/>
          </a:xfrm>
          <a:prstGeom prst="roundRect">
            <a:avLst>
              <a:gd name="adj" fmla="val 50000"/>
            </a:avLst>
          </a:prstGeom>
          <a:solidFill>
            <a:srgbClr val="1E2E52"/>
          </a:solidFill>
          <a:ln w="12700">
            <a:solidFill>
              <a:srgbClr val="3A4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" bIns="18288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8A9BF0"/>
                </a:solidFill>
                <a:latin typeface="Microsoft YaHei"/>
                <a:ea typeface="Microsoft YaHei"/>
                <a:cs typeface="Microsoft YaHei"/>
              </a:rPr>
              <a:t>Storyline: When an admin views a fixed account, only that account's full payment information is shown</a:t>
            </a:r>
            <a:r>
              <a:rPr sz="11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" y="4224528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283B66"/>
          </a:solidFill>
          <a:ln w="12700">
            <a:solidFill>
              <a:srgbClr val="445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CREATED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50592" y="4462272"/>
            <a:ext cx="292608" cy="0"/>
          </a:xfrm>
          <a:prstGeom prst="line">
            <a:avLst/>
          </a:prstGeom>
          <a:ln w="22225">
            <a:solidFill>
              <a:srgbClr val="8A9B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779776" y="4224528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283B66"/>
          </a:solidFill>
          <a:ln w="12700">
            <a:solidFill>
              <a:srgbClr val="445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VALIDATED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370831" y="4462272"/>
            <a:ext cx="292609" cy="0"/>
          </a:xfrm>
          <a:prstGeom prst="line">
            <a:avLst/>
          </a:prstGeom>
          <a:ln w="22225">
            <a:solidFill>
              <a:srgbClr val="8A9B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700016" y="4224528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283B66"/>
          </a:solidFill>
          <a:ln w="12700">
            <a:solidFill>
              <a:srgbClr val="445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91072" y="4462272"/>
            <a:ext cx="292608" cy="0"/>
          </a:xfrm>
          <a:prstGeom prst="line">
            <a:avLst/>
          </a:prstGeom>
          <a:ln w="22225">
            <a:solidFill>
              <a:srgbClr val="8A9B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20256" y="4224528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445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COMPLETED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536" y="5029200"/>
            <a:ext cx="1193292" cy="384048"/>
          </a:xfrm>
          <a:prstGeom prst="roundRect">
            <a:avLst>
              <a:gd name="adj" fmla="val 50000"/>
            </a:avLst>
          </a:prstGeom>
          <a:solidFill>
            <a:srgbClr val="1E2E52"/>
          </a:solidFill>
          <a:ln w="12700">
            <a:solidFill>
              <a:srgbClr val="3A4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C7D2FE"/>
                </a:solidFill>
                <a:latin typeface="Microsoft YaHei"/>
                <a:ea typeface="Microsoft YaHei"/>
                <a:cs typeface="Microsoft YaHei"/>
              </a:rPr>
              <a:t>Java 17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53996" y="5029200"/>
            <a:ext cx="1933956" cy="384048"/>
          </a:xfrm>
          <a:prstGeom prst="roundRect">
            <a:avLst>
              <a:gd name="adj" fmla="val 50000"/>
            </a:avLst>
          </a:prstGeom>
          <a:solidFill>
            <a:srgbClr val="1E2E52"/>
          </a:solidFill>
          <a:ln w="12700">
            <a:solidFill>
              <a:srgbClr val="3A4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C7D2FE"/>
                </a:solidFill>
                <a:latin typeface="Microsoft YaHei"/>
                <a:ea typeface="Microsoft YaHei"/>
                <a:cs typeface="Microsoft YaHei"/>
              </a:rPr>
              <a:t>Spring Boot 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5029200"/>
            <a:ext cx="1193292" cy="384048"/>
          </a:xfrm>
          <a:prstGeom prst="roundRect">
            <a:avLst>
              <a:gd name="adj" fmla="val 50000"/>
            </a:avLst>
          </a:prstGeom>
          <a:solidFill>
            <a:srgbClr val="1E2E52"/>
          </a:solidFill>
          <a:ln w="12700">
            <a:solidFill>
              <a:srgbClr val="3A4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C7D2FE"/>
                </a:solidFill>
                <a:latin typeface="Microsoft YaHei"/>
                <a:ea typeface="Microsoft YaHei"/>
                <a:cs typeface="Microsoft YaHei"/>
              </a:rPr>
              <a:t>MyBatis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83580" y="5029200"/>
            <a:ext cx="946404" cy="384048"/>
          </a:xfrm>
          <a:prstGeom prst="roundRect">
            <a:avLst>
              <a:gd name="adj" fmla="val 50000"/>
            </a:avLst>
          </a:prstGeom>
          <a:solidFill>
            <a:srgbClr val="1E2E52"/>
          </a:solidFill>
          <a:ln w="12700">
            <a:solidFill>
              <a:srgbClr val="3A4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C7D2FE"/>
                </a:solidFill>
                <a:latin typeface="Microsoft YaHei"/>
                <a:ea typeface="Microsoft YaHei"/>
                <a:cs typeface="Microsoft YaHei"/>
              </a:rPr>
              <a:t>MySQL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31152" y="5029200"/>
            <a:ext cx="946404" cy="384048"/>
          </a:xfrm>
          <a:prstGeom prst="roundRect">
            <a:avLst>
              <a:gd name="adj" fmla="val 50000"/>
            </a:avLst>
          </a:prstGeom>
          <a:solidFill>
            <a:srgbClr val="1E2E52"/>
          </a:solidFill>
          <a:ln w="12700">
            <a:solidFill>
              <a:srgbClr val="3A4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C7D2FE"/>
                </a:solidFill>
                <a:latin typeface="Microsoft YaHei"/>
                <a:ea typeface="Microsoft YaHei"/>
                <a:cs typeface="Microsoft YaHei"/>
              </a:rPr>
              <a:t>Maven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78724" y="5029200"/>
            <a:ext cx="1193292" cy="384048"/>
          </a:xfrm>
          <a:prstGeom prst="roundRect">
            <a:avLst>
              <a:gd name="adj" fmla="val 50000"/>
            </a:avLst>
          </a:prstGeom>
          <a:solidFill>
            <a:srgbClr val="1E2E52"/>
          </a:solidFill>
          <a:ln w="12700">
            <a:solidFill>
              <a:srgbClr val="3A4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C7D2FE"/>
                </a:solidFill>
                <a:latin typeface="Microsoft YaHei"/>
                <a:ea typeface="Microsoft YaHei"/>
                <a:cs typeface="Microsoft YaHei"/>
              </a:rPr>
              <a:t>Swagger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58521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3A4C8"/>
                </a:solidFill>
                <a:latin typeface="Microsoft YaHei"/>
                <a:ea typeface="Microsoft YaHei"/>
                <a:cs typeface="Microsoft YaHei"/>
              </a:rPr>
              <a:t>4-person team · End-to-end collaboration across frontend, backend, testing, and docs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623620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6769E"/>
                </a:solidFill>
                <a:latin typeface="Microsoft YaHei"/>
                <a:ea typeface="Microsoft YaHei"/>
                <a:cs typeface="Microsoft YaHei"/>
              </a:rPr>
              <a:t>2026-07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71323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07008"/>
            <a:ext cx="502920" cy="411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544068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92224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1773936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Project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7048" y="2157984"/>
            <a:ext cx="4251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System positioning and core highlights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72768"/>
            <a:ext cx="544068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792224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773936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Storyline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157984"/>
            <a:ext cx="4251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Admin's account 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761488"/>
            <a:ext cx="544068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980944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2962656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Overall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3346704"/>
            <a:ext cx="4251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Layered architecture and module breakdown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761488"/>
            <a:ext cx="544068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2980944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2962656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Team Division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3346704"/>
            <a:ext cx="4251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4-person end-to-end collaboration plan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950208"/>
            <a:ext cx="544068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169664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7048" y="4151376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System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7048" y="4535424"/>
            <a:ext cx="4251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Feature map and API overview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3950208"/>
            <a:ext cx="544068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4169664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4151376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Core 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4535424"/>
            <a:ext cx="4251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Payment state machine and creation flow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138928"/>
            <a:ext cx="544068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358384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7048" y="5340096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Database Design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7048" y="5724144"/>
            <a:ext cx="4251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 tables and relationships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5138928"/>
            <a:ext cx="544068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65392" y="5358384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80" y="5340096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Tech Stack &amp; Frameworks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5724144"/>
            <a:ext cx="4251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Backend · Frontend · Engineering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SafePay · The Chosen 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8686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9844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PROJECT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27632"/>
            <a:ext cx="502920" cy="411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01952"/>
            <a:ext cx="5989320" cy="2798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121408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What is SafePay?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578608"/>
            <a:ext cx="54406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An administrator-facing payment processing system: data is organized around accounts, covering the full payment lifecycle — from creation, validation, and dispatch through to completion or failure.</a:t>
            </a:r>
            <a:r>
              <a:rPr sz="13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30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3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30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A state machine drives payment transitions; every state change is written to the audit history. Idempotency keys prevent duplicate submissions, and a balance ledger records every fund movement. From a single account, an admin can see the complete picture of its payments.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956048"/>
            <a:ext cx="1389888" cy="1170432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5102352"/>
            <a:ext cx="13898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669280"/>
            <a:ext cx="1389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REST APIs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03120" y="4956048"/>
            <a:ext cx="1389888" cy="1170432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0" y="5102352"/>
            <a:ext cx="13898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5669280"/>
            <a:ext cx="1389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data tables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39311" y="4956048"/>
            <a:ext cx="1389888" cy="1170432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39311" y="5102352"/>
            <a:ext cx="13898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1" y="5669280"/>
            <a:ext cx="1389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payment statuses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75503" y="4956048"/>
            <a:ext cx="1389888" cy="1170432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75503" y="5102352"/>
            <a:ext cx="13898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75503" y="5669280"/>
            <a:ext cx="1389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error codes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1901952"/>
            <a:ext cx="4754880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0" y="1901952"/>
            <a:ext cx="82296" cy="98755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50608" y="2020824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Account View Storyline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0608" y="2359152"/>
            <a:ext cx="431596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Admin selects a fixed account; only that account's balance, inbound/outbound payments, history, and ledger entries are shown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0" y="3008376"/>
            <a:ext cx="4754880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0" y="3008376"/>
            <a:ext cx="82296" cy="98755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50608" y="3127248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State Machine Driven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0608" y="3465576"/>
            <a:ext cx="431596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CREATED → VALIDATED → SENT → COMPLETED; any illegal transition is rejected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0" y="4114800"/>
            <a:ext cx="4754880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0" y="4114800"/>
            <a:ext cx="82296" cy="98755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50608" y="4233672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Idempotent &amp; Duplicate-proof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50608" y="4572000"/>
            <a:ext cx="431596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Client-side idempotency keys + a database UNIQUE constraint: duplicate submissions return the original payment; concurrent requests with the same key commit only one record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0" y="5221224"/>
            <a:ext cx="4754880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58000" y="5221224"/>
            <a:ext cx="82296" cy="98755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50608" y="5340096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Concurrent Balance Protection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50608" y="5678424"/>
            <a:ext cx="431596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Conditional balance deduction (WHERE balance &gt;= amount): 0 affected rows = failure, with reserved funds released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SafePay · The Chosen 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8686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Storyline: Admin Account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9844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ADMIN ACCOUNT VIEW — ONE ACCOUNT, FULL PICTURE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27632"/>
            <a:ext cx="502920" cy="411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11064240" cy="768096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883664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28800"/>
            <a:ext cx="99669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As a system administrator, when I view a fixed account, the system only shows the full set of payment-related information tied to that account — no more, no less.</a:t>
            </a:r>
            <a:r>
              <a:rPr sz="145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4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16352"/>
            <a:ext cx="2286000" cy="530352"/>
          </a:xfrm>
          <a:prstGeom prst="roundRect">
            <a:avLst>
              <a:gd name="adj" fmla="val 50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Administrator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89504" y="3081528"/>
            <a:ext cx="420624" cy="0"/>
          </a:xfrm>
          <a:prstGeom prst="line">
            <a:avLst/>
          </a:prstGeom>
          <a:ln w="25400">
            <a:solidFill>
              <a:srgbClr val="4F46E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46704" y="2816352"/>
            <a:ext cx="301752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Enter account number: ACC10001</a:t>
            </a:r>
            <a:r>
              <a:rPr sz="13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0" y="3081528"/>
            <a:ext cx="420624" cy="0"/>
          </a:xfrm>
          <a:prstGeom prst="line">
            <a:avLst/>
          </a:prstGeom>
          <a:ln w="25400">
            <a:solidFill>
              <a:srgbClr val="4F46E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858000" y="2816352"/>
            <a:ext cx="4773168" cy="53035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Account Overview (only this account's data)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84448"/>
            <a:ext cx="5440680" cy="11338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584448"/>
            <a:ext cx="73152" cy="1133856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712463"/>
            <a:ext cx="4983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① Account Balance   GET /api/accounts/{no}/balance</a:t>
            </a:r>
            <a:r>
              <a:rPr sz="950" b="1" i="0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078224"/>
            <a:ext cx="4983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Real-time balance and last-updated timestamp — at-a-glance visibility of funds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584448"/>
            <a:ext cx="5440680" cy="11338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584448"/>
            <a:ext cx="73152" cy="113385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9944" y="3712463"/>
            <a:ext cx="4983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② Outbound Records   source_account = current account</a:t>
            </a:r>
            <a:r>
              <a:rPr sz="950" b="1" i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4078224"/>
            <a:ext cx="4983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All payments initiated by this account: amount, status, and error code on failure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882896"/>
            <a:ext cx="5440680" cy="11338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4882896"/>
            <a:ext cx="73152" cy="11338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5010912"/>
            <a:ext cx="4983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③ Inbound Records   destination_account = current account</a:t>
            </a:r>
            <a:r>
              <a:rPr sz="950" b="1" i="0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5376672"/>
            <a:ext cx="4983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All payments received by this account: source, amount, and completion time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882896"/>
            <a:ext cx="5440680" cy="11338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4882896"/>
            <a:ext cx="73152" cy="113385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9944" y="5010912"/>
            <a:ext cx="4983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④ History &amp; Ledger   payment_history + balance_ledger</a:t>
            </a:r>
            <a:r>
              <a:rPr sz="950" b="1" i="0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9944" y="5376672"/>
            <a:ext cx="4983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State transition timeline for every payment + RESERVE / DEBIT / CREDIT fund movements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108192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Data boundary: only records where source / destination equals the current account are aggregated; dual-account index + ledger account index keep aggregation queries efficient</a:t>
            </a:r>
            <a:r>
              <a:rPr sz="10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SafePay · The Chosen 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8686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Overall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9844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LAYERED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27632"/>
            <a:ext cx="502920" cy="411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740664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28800"/>
            <a:ext cx="82296" cy="713232"/>
          </a:xfrm>
          <a:prstGeom prst="rect">
            <a:avLst/>
          </a:prstGeom>
          <a:solidFill>
            <a:srgbClr val="0E9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011680"/>
            <a:ext cx="1481328" cy="347472"/>
          </a:xfrm>
          <a:prstGeom prst="roundRect">
            <a:avLst>
              <a:gd name="adj" fmla="val 50000"/>
            </a:avLst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E949B"/>
                </a:solidFill>
                <a:latin typeface="Microsoft YaHei"/>
                <a:ea typeface="Microsoft YaHei"/>
                <a:cs typeface="Microsoft YaHei"/>
              </a:rPr>
              <a:t>Frontend Presentation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7168" y="1901952"/>
            <a:ext cx="5303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SafePay Console · HTML5 / CSS3 / Vanilla JavaScript (static assets hosted)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70248" y="2555748"/>
            <a:ext cx="0" cy="173736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66928" y="2743200"/>
            <a:ext cx="740664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743200"/>
            <a:ext cx="82296" cy="71323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2926080"/>
            <a:ext cx="1481328" cy="34747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REST Controller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7168" y="2816352"/>
            <a:ext cx="5303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PaymentController · AccountController — routing / parameter validation / DTO conversion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70248" y="3470148"/>
            <a:ext cx="0" cy="173736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66928" y="3657600"/>
            <a:ext cx="740664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657600"/>
            <a:ext cx="82296" cy="7132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3840480"/>
            <a:ext cx="1481328" cy="347472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Business Service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87168" y="3730752"/>
            <a:ext cx="5303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PaymentService (state machine · idempotency · balance ledger) · PaymentQueryService (queries)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270248" y="4384548"/>
            <a:ext cx="0" cy="173736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66928" y="4572000"/>
            <a:ext cx="740664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4572000"/>
            <a:ext cx="82296" cy="71323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4754880"/>
            <a:ext cx="1481328" cy="347472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Data Access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87168" y="4645152"/>
            <a:ext cx="5303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MyBatis Mapper interfaces + XML mappings (Payment / Account / History / Ledger)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270248" y="5298948"/>
            <a:ext cx="0" cy="173736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66928" y="5486400"/>
            <a:ext cx="740664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5486400"/>
            <a:ext cx="82296" cy="71323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5669280"/>
            <a:ext cx="1481328" cy="347472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Data Storage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87168" y="5559552"/>
            <a:ext cx="5303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MySQL · paymentDB (payments / accounts / payment_history / balance_ledger)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2542032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HTTP · REST · JSON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47888" y="1883664"/>
            <a:ext cx="3383280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2048256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Cross-cutting Support Components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245059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00" b="1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GlobalExceptionHandler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05088" y="2697480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Unified exceptions → error codes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290779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00" b="1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Result&lt;T&gt;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05088" y="3154680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Unified response structure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336499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00" b="1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Springdoc OpenAPI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05088" y="3611880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Swagger UI API documentation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3822191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00" b="1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Logback / SLF4J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05088" y="4069079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Console + file logging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47888" y="4498848"/>
            <a:ext cx="3383280" cy="1883664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03920" y="46634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Layered Responsibility Boundaries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5047488"/>
            <a:ext cx="2926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Controller holds no business logic</a:t>
            </a:r>
            <a:r>
              <a:rPr sz="11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Service contains no SQL</a:t>
            </a:r>
            <a:r>
              <a:rPr sz="11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Mapper only reads and writes data</a:t>
            </a:r>
            <a:r>
              <a:rPr sz="11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SafePay · The Chosen One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9284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8686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Team Division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9844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4-person end-to-end collaboration with equal workload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27632"/>
            <a:ext cx="502920" cy="411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20240"/>
            <a:ext cx="2697480" cy="3310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920240"/>
            <a:ext cx="2697480" cy="786384"/>
          </a:xfrm>
          <a:prstGeom prst="roundRect">
            <a:avLst>
              <a:gd name="adj" fmla="val 6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Member A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Payment creation &amp; state machine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90779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907792"/>
            <a:ext cx="213055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Project scaffolding &amp; common classes (Result / ErrorCode)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47472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3474720"/>
            <a:ext cx="213055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Full happy-path flow (4 state transitions)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404164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4041648"/>
            <a:ext cx="213055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Balance reservation &amp; RESERVE entry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460857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4608576"/>
            <a:ext cx="213055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POST /api/payments endpoint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9856" y="1920240"/>
            <a:ext cx="2697480" cy="3310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19856" y="1920240"/>
            <a:ext cx="2697480" cy="786384"/>
          </a:xfrm>
          <a:prstGeom prst="roundRect">
            <a:avLst>
              <a:gd name="adj" fmla="val 6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Member B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Failure handling &amp; audit trail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1024" y="290779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22192" y="2907792"/>
            <a:ext cx="213055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Schema script &amp; seed data (payment.sql)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21024" y="347472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22192" y="3474720"/>
            <a:ext cx="213055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All failure branches &amp; error code returns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1024" y="404164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22192" y="4041648"/>
            <a:ext cx="213055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Global exception handler (no stack-trace leakage)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21024" y="460857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22192" y="4608576"/>
            <a:ext cx="213055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payment_history audit timeline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1920240"/>
            <a:ext cx="2697480" cy="3310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72784" y="1920240"/>
            <a:ext cx="2697480" cy="786384"/>
          </a:xfrm>
          <a:prstGeom prst="roundRect">
            <a:avLst>
              <a:gd name="adj" fmla="val 6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Member C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Query APIs &amp; account balance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290779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2907792"/>
            <a:ext cx="213055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4 GET query endpoints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347472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474720"/>
            <a:ext cx="213055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Account balance query module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3952" y="404164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041648"/>
            <a:ext cx="213055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Payment list &amp; status filter UI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2" y="460857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4608576"/>
            <a:ext cx="213055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Single-payment query &amp; balance panel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25712" y="1920240"/>
            <a:ext cx="2697480" cy="3310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125712" y="1920240"/>
            <a:ext cx="2697480" cy="786384"/>
          </a:xfrm>
          <a:prstGeom prst="roundRect">
            <a:avLst>
              <a:gd name="adj" fmla="val 6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Member D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Idempotency &amp; integration tests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290779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28048" y="2907792"/>
            <a:ext cx="213055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Idempotency check + unique-constraint backstop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347472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▪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28048" y="3474720"/>
            <a:ext cx="213055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MyBatis / Swagger / logging configuration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404164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▪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28048" y="4041648"/>
            <a:ext cx="213055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History timeline panel &amp; page theme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460857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▪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28048" y="4608576"/>
            <a:ext cx="213055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8 integration test suites (incl. concurrency scenarios)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6928" y="5468112"/>
            <a:ext cx="11064240" cy="804672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1248" y="559612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Division principle: each member owns one module end-to-end across backend + frontend + tests + docs — no frontend/backend split.</a:t>
            </a:r>
            <a:r>
              <a:rPr sz="11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Collaboration: feature-branch development → PR → at least 1 code review → merge into develop; daily 15-min standup.</a:t>
            </a:r>
            <a:r>
              <a:rPr sz="11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SafePay · The Chosen One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9284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8686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System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9844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FEATURES &amp; APIs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27632"/>
            <a:ext cx="502920" cy="411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84708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Feature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286000"/>
            <a:ext cx="406908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286000"/>
            <a:ext cx="64008" cy="71323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68296"/>
            <a:ext cx="37490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Account Overview 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70048"/>
            <a:ext cx="37490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Balance + inbound/outbound payment aggregation for a fixed account (storyline)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08960"/>
            <a:ext cx="406908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108960"/>
            <a:ext cx="64008" cy="71323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91256"/>
            <a:ext cx="37490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Payment Creation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93008"/>
            <a:ext cx="37490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Synchronously walks through creation → validation → dispatch → completion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31920"/>
            <a:ext cx="406908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931920"/>
            <a:ext cx="64008" cy="71323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014215"/>
            <a:ext cx="37490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Payment Query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15968"/>
            <a:ext cx="37490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Single-payment details / list / status filter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54880"/>
            <a:ext cx="406908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4754880"/>
            <a:ext cx="64008" cy="71323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837176"/>
            <a:ext cx="37490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History Tracking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138928"/>
            <a:ext cx="37490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Complete state transition timeline (incl. failure reasons)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577840"/>
            <a:ext cx="406908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5577840"/>
            <a:ext cx="64008" cy="71323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660136"/>
            <a:ext cx="37490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Web Console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961888"/>
            <a:ext cx="37490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 panels: create, list, history, balance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184708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REST API Overview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83480" y="2286000"/>
            <a:ext cx="6656832" cy="420624"/>
          </a:xfrm>
          <a:prstGeom prst="roundRect">
            <a:avLst>
              <a:gd name="adj" fmla="val 4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38928" y="236829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Method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2368296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2368296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Description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2706624"/>
            <a:ext cx="665683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38928" y="2798064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POST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279806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/api/payments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2798064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Create payment (idempotent)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83480" y="3163824"/>
            <a:ext cx="6656832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38928" y="3255264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GET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325526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/api/payments/{id}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3255264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Get single payment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83480" y="3621024"/>
            <a:ext cx="665683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38928" y="3712463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GET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3712463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/api/payments?status=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3712463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List payments, status filter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4078224"/>
            <a:ext cx="6656832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38928" y="4169663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GET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72200" y="4169663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/api/payments/{id}/history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20" y="4169663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Payment status history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83480" y="4535424"/>
            <a:ext cx="665683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38928" y="4626864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GET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72200" y="462686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/api/accounts/{no}/balance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18320" y="4626864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Account balance ★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983480" y="5138928"/>
            <a:ext cx="6656832" cy="1389888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230368" y="5285232"/>
            <a:ext cx="6217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1" i="0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Account view: the balance endpoint + payment list together render a fixed account's full inbound/outbound picture (★ storyline)</a:t>
            </a:r>
            <a:r>
              <a:rPr sz="110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API docs: Swagger UI (/swagger-ui.html) — browse and try every endpoint online</a:t>
            </a:r>
            <a:r>
              <a:rPr sz="110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Unified response: Result&lt;T&gt; = { code, message, data }; errors return with standard error codes</a:t>
            </a:r>
            <a:r>
              <a:rPr sz="110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SafePay · The Chosen One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9284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8686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Core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9844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STATE MACHINE &amp; PAYMENT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27632"/>
            <a:ext cx="502920" cy="411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81051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Payment State Machine (5 states)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267712"/>
            <a:ext cx="1920240" cy="5486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CREATED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97479" y="2542032"/>
            <a:ext cx="475489" cy="0"/>
          </a:xfrm>
          <a:prstGeom prst="line">
            <a:avLst/>
          </a:prstGeom>
          <a:ln w="25400">
            <a:solidFill>
              <a:srgbClr val="05966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18688" y="2267712"/>
            <a:ext cx="1920240" cy="5486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VALIDATED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166360" y="2542032"/>
            <a:ext cx="475488" cy="0"/>
          </a:xfrm>
          <a:prstGeom prst="line">
            <a:avLst/>
          </a:prstGeom>
          <a:ln w="25400">
            <a:solidFill>
              <a:srgbClr val="05966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687568" y="2267712"/>
            <a:ext cx="1920240" cy="54864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35240" y="2542032"/>
            <a:ext cx="475488" cy="0"/>
          </a:xfrm>
          <a:prstGeom prst="line">
            <a:avLst/>
          </a:prstGeom>
          <a:ln w="25400">
            <a:solidFill>
              <a:srgbClr val="05966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156448" y="2267712"/>
            <a:ext cx="1920240" cy="54864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COMPLETED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75887" y="3310128"/>
            <a:ext cx="1920240" cy="54864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FAILED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09928" y="2834640"/>
            <a:ext cx="2926079" cy="457200"/>
          </a:xfrm>
          <a:prstGeom prst="line">
            <a:avLst/>
          </a:prstGeom>
          <a:ln w="19050">
            <a:solidFill>
              <a:srgbClr val="DC262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178808" y="2834640"/>
            <a:ext cx="457199" cy="457200"/>
          </a:xfrm>
          <a:prstGeom prst="line">
            <a:avLst/>
          </a:prstGeom>
          <a:ln w="19050">
            <a:solidFill>
              <a:srgbClr val="DC262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4636007" y="2834640"/>
            <a:ext cx="2011681" cy="457200"/>
          </a:xfrm>
          <a:prstGeom prst="line">
            <a:avLst/>
          </a:prstGeom>
          <a:ln w="19050">
            <a:solidFill>
              <a:srgbClr val="DC262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49808" y="287121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Any validation / processing failure at any stage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346704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COMPLETED / FAILED are terminal states;
illegal transitions return a 400 error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04164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Payment Creation · 9 synchronous steps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425696"/>
            <a:ext cx="3602736" cy="493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449884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4471416"/>
            <a:ext cx="29992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Request field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4709159"/>
            <a:ext cx="29992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amount / account / currency / idempotency key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4425696"/>
            <a:ext cx="3602736" cy="493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25112" y="449884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64024" y="4471416"/>
            <a:ext cx="29992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Idempotency 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64024" y="4709159"/>
            <a:ext cx="29992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Same key returns the existing payment directly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36992" y="4425696"/>
            <a:ext cx="3602736" cy="493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10144" y="449884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49056" y="4471416"/>
            <a:ext cx="29992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Persist as CREATED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49056" y="4709159"/>
            <a:ext cx="29992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Write the first history record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001768"/>
            <a:ext cx="3602736" cy="493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080" y="507492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" y="5047488"/>
            <a:ext cx="29992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Account &amp; balance validation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" y="5285231"/>
            <a:ext cx="29992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Existence + sufficient funds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51960" y="5001768"/>
            <a:ext cx="3602736" cy="493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325112" y="507492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64024" y="5047488"/>
            <a:ext cx="29992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→ VALIDATED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64024" y="5285231"/>
            <a:ext cx="29992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All business validations pass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36992" y="5001768"/>
            <a:ext cx="3602736" cy="493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010144" y="507492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49056" y="5047488"/>
            <a:ext cx="29992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Reserve balance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49056" y="5285231"/>
            <a:ext cx="29992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Conditional deduction + RESERVE ledger entry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" y="5577840"/>
            <a:ext cx="3602736" cy="493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40080" y="565099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8992" y="5623559"/>
            <a:ext cx="29992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→ SENT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8992" y="5861303"/>
            <a:ext cx="29992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Simulate dispatch to the target system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51960" y="5577840"/>
            <a:ext cx="3602736" cy="493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325112" y="565099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64024" y="5623559"/>
            <a:ext cx="29992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→ COMPLETED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64024" y="5861303"/>
            <a:ext cx="29992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Confirm successful processing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936992" y="5577840"/>
            <a:ext cx="3602736" cy="493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010144" y="565099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49056" y="5623559"/>
            <a:ext cx="29992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Fund settlement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49056" y="5861303"/>
            <a:ext cx="29992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Source DEBIT + destination CREDIT ledger entries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66928" y="6144768"/>
            <a:ext cx="11064240" cy="329184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1248" y="6195060"/>
            <a:ext cx="10698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Failure fallback: any step fails → payment is marked FAILED + a RELEASE ledger entry releases the reservation + every step is recorded in payment_history</a:t>
            </a:r>
            <a:r>
              <a:rPr sz="10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SafePay · The Chosen One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29284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8686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9844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MySQL · paymentDB · 4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27632"/>
            <a:ext cx="502920" cy="411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883664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883664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payments   Main payment table</a:t>
            </a:r>
            <a:r>
              <a:rPr sz="950" b="0" i="0">
                <a:solidFill>
                  <a:srgbClr val="E8ECF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450592"/>
            <a:ext cx="24140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id  CHAR(36)  PK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0672" y="2450592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UUID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692908"/>
            <a:ext cx="24140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idempotency_key  UNIQUE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2692908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Idempotency key, prevents duplicate submissions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935224"/>
            <a:ext cx="24140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source / destination_account 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2935224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Dual-account index, powers account view aggregation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177540"/>
            <a:ext cx="24140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amount DECIMAL(18,2) · currency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3177540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Amount and currency (ISO 4217)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419856"/>
            <a:ext cx="24140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status · error_code · error_message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0672" y="3419856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Current status and failure info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662172"/>
            <a:ext cx="24140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created_at / updated_at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90672" y="3662172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Indexes: status / created_at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443984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6928" y="4443984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payment_history   Payment state history (audit)</a:t>
            </a:r>
            <a:r>
              <a:rPr sz="950" b="0" i="0">
                <a:solidFill>
                  <a:srgbClr val="E8ECF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5010912"/>
            <a:ext cx="24140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id  CHAR(36)  PK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0672" y="5010912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UUID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253228"/>
            <a:ext cx="24140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payment_id  FK → payments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90672" y="5253228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CASCADE on delete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495544"/>
            <a:ext cx="24140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from_status → to_status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90672" y="5495544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State transition (first row's from is NULL)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737859"/>
            <a:ext cx="24140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note · error_code · created_at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90672" y="5737859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Note, error code, change time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82512" y="1883664"/>
            <a:ext cx="5248656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82512" y="1883664"/>
            <a:ext cx="5248656" cy="475488"/>
          </a:xfrm>
          <a:prstGeom prst="roundRect">
            <a:avLst>
              <a:gd name="adj" fmla="val 6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accounts   Account balance table ★ view anchor</a:t>
            </a:r>
            <a:r>
              <a:rPr sz="950" b="0" i="0">
                <a:solidFill>
                  <a:srgbClr val="E8ECF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8816" y="2450592"/>
            <a:ext cx="23094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account_no  VARCHAR(64)  PK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96893" y="2450592"/>
            <a:ext cx="26243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Account number · admin view entry point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8816" y="2692908"/>
            <a:ext cx="23094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balance  DECIMAL(18,2)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96893" y="2692908"/>
            <a:ext cx="26243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Current balance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8816" y="2935224"/>
            <a:ext cx="23094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updated_at  TIMESTAMP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96893" y="2935224"/>
            <a:ext cx="26243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Conditional update prevents concurrent over-spend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82512" y="3575304"/>
            <a:ext cx="5248656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382512" y="3575304"/>
            <a:ext cx="5248656" cy="475488"/>
          </a:xfrm>
          <a:prstGeom prst="roundRect">
            <a:avLst>
              <a:gd name="adj" fmla="val 6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balance_ledger   Balance ledger table</a:t>
            </a:r>
            <a:r>
              <a:rPr sz="950" b="0" i="0">
                <a:solidFill>
                  <a:srgbClr val="E8ECF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8816" y="4142232"/>
            <a:ext cx="23094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id  CHAR(36)  PK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96893" y="4142232"/>
            <a:ext cx="26243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UUID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28816" y="4384548"/>
            <a:ext cx="23094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account_no ★ · payment_id FK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96893" y="4384548"/>
            <a:ext cx="26243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Per-account bookkeeping · linked to payment (SET NULL)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28816" y="4626864"/>
            <a:ext cx="23094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direction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96893" y="4626864"/>
            <a:ext cx="26243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RESERVE (reserve) / RELEASE (release)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28816" y="4869179"/>
            <a:ext cx="23094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96893" y="4869179"/>
            <a:ext cx="26243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DEBIT (debit) / CREDIT (credit)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28816" y="5111495"/>
            <a:ext cx="23094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amount · balance_before / after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96893" y="5111495"/>
            <a:ext cx="26243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Movement amount and balance snapshots before/after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28816" y="5353811"/>
            <a:ext cx="23094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created_at  TIMESTAMP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96893" y="5353811"/>
            <a:ext cx="26243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Indexes: account_no / payment_id</a:t>
            </a:r>
          </a:p>
        </p:txBody>
      </p:sp>
      <p:cxnSp>
        <p:nvCxnSpPr>
          <p:cNvPr id="53" name="Connector 52"/>
          <p:cNvCxnSpPr/>
          <p:nvPr/>
        </p:nvCxnSpPr>
        <p:spPr>
          <a:xfrm flipV="1">
            <a:off x="3291840" y="4206240"/>
            <a:ext cx="0" cy="237744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3401568" y="4169663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FK 1 : N</a:t>
            </a:r>
          </a:p>
        </p:txBody>
      </p:sp>
      <p:cxnSp>
        <p:nvCxnSpPr>
          <p:cNvPr id="55" name="Connector 54"/>
          <p:cNvCxnSpPr/>
          <p:nvPr/>
        </p:nvCxnSpPr>
        <p:spPr>
          <a:xfrm flipV="1">
            <a:off x="9052560" y="3337560"/>
            <a:ext cx="0" cy="237744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9162288" y="3310128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Per-account bookkeeping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053328" y="4937760"/>
            <a:ext cx="292608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870448" y="50109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FK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630936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Design notes: ★ The dual-account index + ledger account index are the query foundation of the “admin account view”; idempotency_key UNIQUE constraint backstops idempotency; amounts uniformly use DECIMAL(18,2) to avoid floating-point errors</a:t>
            </a:r>
            <a:r>
              <a:rPr sz="10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SafePay · The Chosen One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29284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8686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Tech Stack &amp; Frameworks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9844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TECH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27632"/>
            <a:ext cx="502920" cy="411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883664"/>
            <a:ext cx="5468112" cy="14264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2020824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Core Frameworks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487168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Java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8688" y="2487168"/>
            <a:ext cx="2679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Programming 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752344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Spring Boot 4.1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8688" y="2752344"/>
            <a:ext cx="2679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Application framework / embedded Tomcat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3017520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Spring MVC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18688" y="3017520"/>
            <a:ext cx="2679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REST API layer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883664"/>
            <a:ext cx="5468112" cy="14264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27648" y="2020824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Data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87168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MyBatis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487168"/>
            <a:ext cx="2679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Mapper interfaces + XML 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752344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MySQL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33104" y="2752344"/>
            <a:ext cx="2679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InnoDB · utf8mb4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017520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mysql-connector-j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33104" y="3017520"/>
            <a:ext cx="2679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JDBC driver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474720"/>
            <a:ext cx="5468112" cy="14264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3611879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rPr>
              <a:t>API Documentation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4078224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Springdoc OpenAPI 2.2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18688" y="4078224"/>
            <a:ext cx="2679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OpenAPI 3 spec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" y="4343400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Swagger UI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18688" y="4343400"/>
            <a:ext cx="2679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Online API docs &amp; try-it-out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3474720"/>
            <a:ext cx="5468112" cy="14264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27648" y="3611879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Frontend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078224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HTML5 / CSS3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33104" y="4078224"/>
            <a:ext cx="2679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Dark-themed console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343400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Vanilla JavaScript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33104" y="4343400"/>
            <a:ext cx="2679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Fetch API to call the backend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608576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Static asset hosting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4608576"/>
            <a:ext cx="2679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Served directly by Spring Boot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5065776"/>
            <a:ext cx="5468112" cy="14264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13232" y="5202936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Engineering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" y="5669280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Maven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18688" y="5669280"/>
            <a:ext cx="2679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Build &amp; dependency management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" y="5934456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Lombok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18688" y="5934456"/>
            <a:ext cx="2679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Reduces boilerplate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" y="6199632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Git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18688" y="6199632"/>
            <a:ext cx="2679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feature branches + PR reviews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81344" y="5065776"/>
            <a:ext cx="5468112" cy="14264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327648" y="5202936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Logging &amp; Testing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5669280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SLF4J + Logback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33104" y="5669280"/>
            <a:ext cx="2679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Console + rolling file logs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5934456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Spring Boot Test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33104" y="5934456"/>
            <a:ext cx="2679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MockMvc integration tests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6199632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Concurrency test cases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33104" y="6199632"/>
            <a:ext cx="2679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Concurrent requests with the same key commit only one record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SafePay · The Chosen One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9284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4206240"/>
            <a:ext cx="4572000" cy="4572000"/>
          </a:xfrm>
          <a:prstGeom prst="ellipse">
            <a:avLst/>
          </a:prstGeom>
          <a:solidFill>
            <a:srgbClr val="1E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1280160"/>
            <a:ext cx="4023360" cy="4023360"/>
          </a:xfrm>
          <a:prstGeom prst="ellipse">
            <a:avLst/>
          </a:prstGeom>
          <a:solidFill>
            <a:srgbClr val="1E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10312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Thank You · Q&amp;A</a:t>
            </a:r>
          </a:p>
        </p:txBody>
      </p:sp>
      <p:sp>
        <p:nvSpPr>
          <p:cNvPr id="6" name="Rectangle 5"/>
          <p:cNvSpPr/>
          <p:nvPr/>
        </p:nvSpPr>
        <p:spPr>
          <a:xfrm>
            <a:off x="5775807" y="3172968"/>
            <a:ext cx="64008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342900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93A4C8"/>
                </a:solidFill>
                <a:latin typeface="Microsoft YaHei"/>
                <a:ea typeface="Microsoft YaHei"/>
                <a:cs typeface="Microsoft YaHei"/>
              </a:rPr>
              <a:t>SafePay Payment Processing System · The Chosen One Team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41167" y="3977639"/>
            <a:ext cx="6309360" cy="512064"/>
          </a:xfrm>
          <a:prstGeom prst="roundRect">
            <a:avLst>
              <a:gd name="adj" fmla="val 50000"/>
            </a:avLst>
          </a:prstGeom>
          <a:solidFill>
            <a:srgbClr val="1E2E52"/>
          </a:solidFill>
          <a:ln w="12700">
            <a:solidFill>
              <a:srgbClr val="3A4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8A9BF0"/>
                </a:solidFill>
                <a:latin typeface="Microsoft YaHei"/>
                <a:ea typeface="Microsoft YaHei"/>
                <a:cs typeface="Microsoft YaHei"/>
              </a:rPr>
              <a:t>Storyline: One account, full visibility of its payments</a:t>
            </a:r>
            <a:r>
              <a:rPr sz="11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70916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66769E"/>
                </a:solidFill>
                <a:latin typeface="Microsoft YaHei"/>
                <a:ea typeface="Microsoft YaHei"/>
                <a:cs typeface="Microsoft YaHei"/>
              </a:rPr>
              <a:t>Java 17 · Spring Boot 4 · MyBatis · MySQL · Swagger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SafePay 支付处理系统 - 项目展示</dc:title>
  <dc:subject/>
  <dc:creator>The Chosen One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