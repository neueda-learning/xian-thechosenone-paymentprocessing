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463040"/>
            <a:ext cx="4754880" cy="4754880"/>
          </a:xfrm>
          <a:prstGeom prst="ellipse">
            <a:avLst/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3566160"/>
            <a:ext cx="4206240" cy="4206240"/>
          </a:xfrm>
          <a:prstGeom prst="ellipse">
            <a:avLst/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0" y="5394960"/>
            <a:ext cx="2377440" cy="2377440"/>
          </a:xfrm>
          <a:prstGeom prst="ellipse">
            <a:avLst/>
          </a:prstGeom>
          <a:solidFill>
            <a:srgbClr val="28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47120" y="548640"/>
            <a:ext cx="1645920" cy="1645920"/>
          </a:xfrm>
          <a:prstGeom prst="ellipse">
            <a:avLst/>
          </a:prstGeom>
          <a:solidFill>
            <a:srgbClr val="28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A9BF0"/>
                </a:solidFill>
                <a:latin typeface="Microsoft YaHei"/>
                <a:ea typeface="Microsoft YaHei"/>
                <a:cs typeface="Microsoft YaHei"/>
              </a:rPr>
              <a:t>TEAM PROJECT  ·  THE CHOSEN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353312"/>
            <a:ext cx="8778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SafePay 支付处理系统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14600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93A4C8"/>
                </a:solidFill>
                <a:latin typeface="Microsoft YaHei"/>
                <a:ea typeface="Microsoft YaHei"/>
                <a:cs typeface="Microsoft YaHei"/>
              </a:rPr>
              <a:t>金融支付全生命周期管理 —— 创建 · 校验 · 处理 · 审计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" y="3200400"/>
            <a:ext cx="64008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9536" y="3456432"/>
            <a:ext cx="6309360" cy="512064"/>
          </a:xfrm>
          <a:prstGeom prst="roundRect">
            <a:avLst>
              <a:gd name="adj" fmla="val 50000"/>
            </a:avLst>
          </a:prstGeom>
          <a:solidFill>
            <a:srgbClr val="1E2E52"/>
          </a:solidFill>
          <a:ln w="12700">
            <a:solidFill>
              <a:srgbClr val="3A4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" bIns="18288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8A9BF0"/>
                </a:solidFill>
                <a:latin typeface="Microsoft YaHei"/>
                <a:ea typeface="Microsoft YaHei"/>
                <a:cs typeface="Microsoft YaHei"/>
              </a:rPr>
              <a:t>故事主线  </a:t>
            </a:r>
            <a:r>
              <a:rPr sz="11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管理员查看固定账户时，仅显示该账户的全部支付信息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" y="4224528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283B66"/>
          </a:solidFill>
          <a:ln w="12700">
            <a:solidFill>
              <a:srgbClr val="445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CREATED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50592" y="4462272"/>
            <a:ext cx="292608" cy="0"/>
          </a:xfrm>
          <a:prstGeom prst="line">
            <a:avLst/>
          </a:prstGeom>
          <a:ln w="22225">
            <a:solidFill>
              <a:srgbClr val="8A9B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79776" y="4224528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283B66"/>
          </a:solidFill>
          <a:ln w="12700">
            <a:solidFill>
              <a:srgbClr val="445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VALIDATED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70831" y="4462272"/>
            <a:ext cx="292609" cy="0"/>
          </a:xfrm>
          <a:prstGeom prst="line">
            <a:avLst/>
          </a:prstGeom>
          <a:ln w="22225">
            <a:solidFill>
              <a:srgbClr val="8A9B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700016" y="4224528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283B66"/>
          </a:solidFill>
          <a:ln w="12700">
            <a:solidFill>
              <a:srgbClr val="445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91072" y="4462272"/>
            <a:ext cx="292608" cy="0"/>
          </a:xfrm>
          <a:prstGeom prst="line">
            <a:avLst/>
          </a:prstGeom>
          <a:ln w="22225">
            <a:solidFill>
              <a:srgbClr val="8A9B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0256" y="4224528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445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COMPLETED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" y="5029200"/>
            <a:ext cx="1193292" cy="384048"/>
          </a:xfrm>
          <a:prstGeom prst="roundRect">
            <a:avLst>
              <a:gd name="adj" fmla="val 50000"/>
            </a:avLst>
          </a:prstGeom>
          <a:solidFill>
            <a:srgbClr val="1E2E52"/>
          </a:solidFill>
          <a:ln w="12700">
            <a:solidFill>
              <a:srgbClr val="3A4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Java 17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53996" y="5029200"/>
            <a:ext cx="1933956" cy="384048"/>
          </a:xfrm>
          <a:prstGeom prst="roundRect">
            <a:avLst>
              <a:gd name="adj" fmla="val 50000"/>
            </a:avLst>
          </a:prstGeom>
          <a:solidFill>
            <a:srgbClr val="1E2E52"/>
          </a:solidFill>
          <a:ln w="12700">
            <a:solidFill>
              <a:srgbClr val="3A4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Spring Boot 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5029200"/>
            <a:ext cx="1193292" cy="384048"/>
          </a:xfrm>
          <a:prstGeom prst="roundRect">
            <a:avLst>
              <a:gd name="adj" fmla="val 50000"/>
            </a:avLst>
          </a:prstGeom>
          <a:solidFill>
            <a:srgbClr val="1E2E52"/>
          </a:solidFill>
          <a:ln w="12700">
            <a:solidFill>
              <a:srgbClr val="3A4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MyBatis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83580" y="5029200"/>
            <a:ext cx="946404" cy="384048"/>
          </a:xfrm>
          <a:prstGeom prst="roundRect">
            <a:avLst>
              <a:gd name="adj" fmla="val 50000"/>
            </a:avLst>
          </a:prstGeom>
          <a:solidFill>
            <a:srgbClr val="1E2E52"/>
          </a:solidFill>
          <a:ln w="12700">
            <a:solidFill>
              <a:srgbClr val="3A4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MySQL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31152" y="5029200"/>
            <a:ext cx="946404" cy="384048"/>
          </a:xfrm>
          <a:prstGeom prst="roundRect">
            <a:avLst>
              <a:gd name="adj" fmla="val 50000"/>
            </a:avLst>
          </a:prstGeom>
          <a:solidFill>
            <a:srgbClr val="1E2E52"/>
          </a:solidFill>
          <a:ln w="12700">
            <a:solidFill>
              <a:srgbClr val="3A4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Maven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78724" y="5029200"/>
            <a:ext cx="1193292" cy="384048"/>
          </a:xfrm>
          <a:prstGeom prst="roundRect">
            <a:avLst>
              <a:gd name="adj" fmla="val 50000"/>
            </a:avLst>
          </a:prstGeom>
          <a:solidFill>
            <a:srgbClr val="1E2E52"/>
          </a:solidFill>
          <a:ln w="12700">
            <a:solidFill>
              <a:srgbClr val="3A4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Swagger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58521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3A4C8"/>
                </a:solidFill>
                <a:latin typeface="Microsoft YaHei"/>
                <a:ea typeface="Microsoft YaHei"/>
                <a:cs typeface="Microsoft YaHei"/>
              </a:rPr>
              <a:t>4 人团队  ·  前后端 + 测试 + 文档端到端协作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623620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6769E"/>
                </a:solidFill>
                <a:latin typeface="Microsoft YaHei"/>
                <a:ea typeface="Microsoft YaHei"/>
                <a:cs typeface="Microsoft YaHei"/>
              </a:rPr>
              <a:t>2026-07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71323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07008"/>
            <a:ext cx="502920" cy="411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544068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92224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773936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项目概述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2157984"/>
            <a:ext cx="4251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系统定位与核心亮点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72768"/>
            <a:ext cx="544068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792224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773936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故事主线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157984"/>
            <a:ext cx="4251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管理员视角的账户视图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761488"/>
            <a:ext cx="544068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980944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2962656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总体架构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3346704"/>
            <a:ext cx="4251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分层架构与模块划分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761488"/>
            <a:ext cx="544068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2980944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962656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团队分工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346704"/>
            <a:ext cx="4251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 人端到端协作方案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950208"/>
            <a:ext cx="544068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169664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7048" y="4151376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系统功能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7048" y="4535424"/>
            <a:ext cx="4251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功能地图与 API 一览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950208"/>
            <a:ext cx="544068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4169664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4151376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核心流程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4535424"/>
            <a:ext cx="4251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支付状态机与创建流程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138928"/>
            <a:ext cx="544068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358384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7048" y="5340096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数据库设计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7048" y="5724144"/>
            <a:ext cx="4251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 张表与关系设计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5138928"/>
            <a:ext cx="544068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65392" y="5358384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5340096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技术栈与框架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5724144"/>
            <a:ext cx="4251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后端 · 前端 · 工程化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SafePay · The Chosen 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8686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项目概述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984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PROJECT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27632"/>
            <a:ext cx="502920" cy="411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01952"/>
            <a:ext cx="5989320" cy="2798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121408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SafePay 是什么？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578608"/>
            <a:ext cx="54406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一个</a:t>
            </a:r>
            <a:r>
              <a:rPr sz="13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面向管理员</a:t>
            </a:r>
            <a:r>
              <a:rPr sz="130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的支付处理系统：以账户为中心组织数据，覆盖支付从</a:t>
            </a:r>
            <a:r>
              <a:rPr sz="13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创建、校验、发送到完成 / 失败</a:t>
            </a:r>
            <a:r>
              <a:rPr sz="130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的完整生命周期。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系统以状态机驱动支付流转，每次状态变更都写入审计历史；通过幂等键防止重复提交，通过余额流水（Ledger）记录每一笔资金变动，管理员围绕单个账户即可看全其支付全貌。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956048"/>
            <a:ext cx="1389888" cy="1170432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5102352"/>
            <a:ext cx="13898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669280"/>
            <a:ext cx="1389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个 REST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4956048"/>
            <a:ext cx="1389888" cy="1170432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5102352"/>
            <a:ext cx="13898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5669280"/>
            <a:ext cx="1389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张数据表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39311" y="4956048"/>
            <a:ext cx="1389888" cy="1170432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9311" y="5102352"/>
            <a:ext cx="13898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1" y="5669280"/>
            <a:ext cx="1389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种支付状态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75503" y="4956048"/>
            <a:ext cx="1389888" cy="1170432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75503" y="5102352"/>
            <a:ext cx="13898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3" y="5669280"/>
            <a:ext cx="1389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个错误码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1901952"/>
            <a:ext cx="475488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0" y="1901952"/>
            <a:ext cx="82296" cy="98755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50608" y="2020824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账户视图主线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608" y="2359152"/>
            <a:ext cx="43159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管理员选定固定账户，仅展示该账户的余额、收支支付、历史与流水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3008376"/>
            <a:ext cx="475488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0" y="3008376"/>
            <a:ext cx="82296" cy="98755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50608" y="3127248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状态机驱动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8" y="3465576"/>
            <a:ext cx="43159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CREATED → VALIDATED → SENT → COMPLETED，非法迁移一律拒绝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4114800"/>
            <a:ext cx="475488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0" y="4114800"/>
            <a:ext cx="82296" cy="98755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50608" y="4233672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幂等防重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50608" y="4572000"/>
            <a:ext cx="43159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客户端幂等键 + 数据库唯一约束，重复提交返回原支付，并发同 key 只落一笔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5221224"/>
            <a:ext cx="475488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58000" y="5221224"/>
            <a:ext cx="82296" cy="98755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50608" y="5340096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并发余额保护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50608" y="5678424"/>
            <a:ext cx="43159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条件更新扣减余额（WHERE balance ≥ amount），0 行影响即失败并释放预留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SafePay · The Chosen 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8686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故事主线：管理员账户视图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984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ADMIN ACCOUNT VIEW —— ONE ACCOUNT, FULL PICTURE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27632"/>
            <a:ext cx="502920" cy="411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11064240" cy="768096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83664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28800"/>
            <a:ext cx="99669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作为系统管理员，</a:t>
            </a:r>
            <a:r>
              <a:rPr sz="145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当我查看一个固定账户时，系统仅显示该账户与自己支付相关的全部信息</a:t>
            </a:r>
            <a:r>
              <a:rPr sz="14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 —— 不多看，也不少看。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16352"/>
            <a:ext cx="2286000" cy="530352"/>
          </a:xfrm>
          <a:prstGeom prst="roundRect">
            <a:avLst>
              <a:gd name="adj" fmla="val 50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管理员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89504" y="3081528"/>
            <a:ext cx="420624" cy="0"/>
          </a:xfrm>
          <a:prstGeom prst="line">
            <a:avLst/>
          </a:prstGeom>
          <a:ln w="25400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46704" y="2816352"/>
            <a:ext cx="30175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输入账户号  </a:t>
            </a:r>
            <a:r>
              <a:rPr sz="13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ACC10001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0" y="3081528"/>
            <a:ext cx="420624" cy="0"/>
          </a:xfrm>
          <a:prstGeom prst="line">
            <a:avLst/>
          </a:prstGeom>
          <a:ln w="25400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858000" y="2816352"/>
            <a:ext cx="4773168" cy="53035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账户全景视图（仅该账户数据）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84448"/>
            <a:ext cx="5440680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584448"/>
            <a:ext cx="73152" cy="113385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712463"/>
            <a:ext cx="4983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① 账户余额   </a:t>
            </a:r>
            <a:r>
              <a:rPr sz="950" b="1" i="0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GET /api/accounts/{no}/balance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078224"/>
            <a:ext cx="4983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实时余额与最后更新时间，一眼掌握资金状况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584448"/>
            <a:ext cx="5440680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584448"/>
            <a:ext cx="73152" cy="113385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9944" y="3712463"/>
            <a:ext cx="4983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② 支出记录   </a:t>
            </a:r>
            <a:r>
              <a:rPr sz="950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source_account = 当前账户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4078224"/>
            <a:ext cx="4983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该账户发起的全部支付：金额、状态、失败错误码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882896"/>
            <a:ext cx="5440680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4882896"/>
            <a:ext cx="73152" cy="11338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5010912"/>
            <a:ext cx="4983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③ 收入记录   </a:t>
            </a:r>
            <a:r>
              <a:rPr sz="950" b="1" i="0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destination_account = 当前账户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376672"/>
            <a:ext cx="4983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转入该账户的全部支付：来源、金额、完成时间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882896"/>
            <a:ext cx="5440680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4882896"/>
            <a:ext cx="73152" cy="113385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9944" y="5010912"/>
            <a:ext cx="4983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④ 历史与流水   </a:t>
            </a:r>
            <a:r>
              <a:rPr sz="950" b="1" i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payment_history + balance_ledger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5376672"/>
            <a:ext cx="4983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每笔支付的状态迁移时间线 + RESERVE / DEBIT / CREDIT 资金变动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108192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数据边界：</a:t>
            </a: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仅归集 source / destination 等于当前账户的数据；双账户索引 + ledger 账户索引保证归集查询高效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SafePay · The Chosen 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8686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总体架构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984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LAYERED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27632"/>
            <a:ext cx="502920" cy="411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740664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28800"/>
            <a:ext cx="82296" cy="713232"/>
          </a:xfrm>
          <a:prstGeom prst="rect">
            <a:avLst/>
          </a:prstGeom>
          <a:solidFill>
            <a:srgbClr val="0E9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011680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E949B"/>
                </a:solidFill>
                <a:latin typeface="Microsoft YaHei"/>
                <a:ea typeface="Microsoft YaHei"/>
                <a:cs typeface="Microsoft YaHei"/>
              </a:rPr>
              <a:t>前端展示层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7168" y="1901952"/>
            <a:ext cx="5303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SafePay Console · HTML5 / CSS3 / 原生 JavaScript（静态资源托管）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70248" y="2555748"/>
            <a:ext cx="0" cy="173736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6928" y="2743200"/>
            <a:ext cx="740664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743200"/>
            <a:ext cx="82296" cy="71323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2926080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REST 控制层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2816352"/>
            <a:ext cx="5303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PaymentController · AccountController —— 路由 / 参数校验 / DTO 转换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70248" y="3470148"/>
            <a:ext cx="0" cy="173736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66928" y="3657600"/>
            <a:ext cx="740664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657600"/>
            <a:ext cx="82296" cy="7132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3840480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业务服务层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7168" y="3730752"/>
            <a:ext cx="5303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PaymentService（状态机 · 幂等 · 余额流水）· PaymentQueryService（查询）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70248" y="4384548"/>
            <a:ext cx="0" cy="173736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66928" y="4572000"/>
            <a:ext cx="740664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4572000"/>
            <a:ext cx="82296" cy="7132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4754880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数据访问层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7168" y="4645152"/>
            <a:ext cx="5303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MyBatis Mapper 接口 + XML 映射（Payment / Account / History / Ledger）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270248" y="5298948"/>
            <a:ext cx="0" cy="173736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66928" y="5486400"/>
            <a:ext cx="740664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5486400"/>
            <a:ext cx="82296" cy="71323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5669280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数据存储层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87168" y="5559552"/>
            <a:ext cx="5303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MySQL · paymentDB（payments / accounts / payment_history / balance_ledger）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2542032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HTTP · REST · JSON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47888" y="1883664"/>
            <a:ext cx="3383280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2048256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横切支撑组件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245059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00" b="1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GlobalExceptionHandler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05088" y="2697480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统一异常 → 错误码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290779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00" b="1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Result&lt;T&gt;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5088" y="3154680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统一响应结构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336499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00" b="1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Springdoc OpenAPI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05088" y="3611880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Swagger UI 接口文档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3822191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00" b="1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Logback / SLF4J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05088" y="4069079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控制台 + 文件日志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47888" y="4498848"/>
            <a:ext cx="3383280" cy="1883664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03920" y="46634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分层职责边界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5047488"/>
            <a:ext cx="2926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Controller </a:t>
            </a:r>
            <a:r>
              <a:rPr sz="11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不写业务逻辑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Service </a:t>
            </a:r>
            <a:r>
              <a:rPr sz="11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不写 SQL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Mapper </a:t>
            </a:r>
            <a:r>
              <a:rPr sz="11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只管数据读写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SafePay · The Chosen 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8686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团队分工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984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 人端到端协作，工作量均等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27632"/>
            <a:ext cx="502920" cy="411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20240"/>
            <a:ext cx="2697480" cy="3310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920240"/>
            <a:ext cx="2697480" cy="786384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成员 A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支付创建与状态机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90779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907792"/>
            <a:ext cx="21305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项目脚手架与公共类（Result / ErrorCode）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4747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474720"/>
            <a:ext cx="21305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支付成功路径全流程（4 态推进）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404164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4041648"/>
            <a:ext cx="21305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余额预留与 RESERVE 分录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460857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4608576"/>
            <a:ext cx="21305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POST /api/payments 接口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9856" y="1920240"/>
            <a:ext cx="2697480" cy="3310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19856" y="1920240"/>
            <a:ext cx="2697480" cy="786384"/>
          </a:xfrm>
          <a:prstGeom prst="roundRect">
            <a:avLst>
              <a:gd name="adj" fmla="val 6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成员 B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失败处理与审计轨迹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1024" y="290779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22192" y="2907792"/>
            <a:ext cx="21305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建表脚本与测试数据（payment.sql）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1024" y="34747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22192" y="3474720"/>
            <a:ext cx="21305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全部失败分支与错误码返回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404164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22192" y="4041648"/>
            <a:ext cx="21305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全局异常处理器（不暴露堆栈）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21024" y="460857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22192" y="4608576"/>
            <a:ext cx="21305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payment_history 审计时间线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1920240"/>
            <a:ext cx="2697480" cy="3310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72784" y="1920240"/>
            <a:ext cx="2697480" cy="786384"/>
          </a:xfrm>
          <a:prstGeom prst="roundRect">
            <a:avLst>
              <a:gd name="adj" fmla="val 6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成员 C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查询接口与账户余额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290779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2907792"/>
            <a:ext cx="21305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4 个 GET 查询接口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34747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474720"/>
            <a:ext cx="21305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账户余额查询模块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404164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041648"/>
            <a:ext cx="21305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支付列表 / 状态筛选前端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460857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608576"/>
            <a:ext cx="21305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单笔查询与余额面板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25712" y="1920240"/>
            <a:ext cx="2697480" cy="3310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125712" y="1920240"/>
            <a:ext cx="2697480" cy="786384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成员 D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幂等保障与集成测试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290779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28048" y="2907792"/>
            <a:ext cx="21305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幂等检查 + 唯一约束兜底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34747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▪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28048" y="3474720"/>
            <a:ext cx="21305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MyBatis / Swagger / 日志配置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404164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▪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28048" y="4041648"/>
            <a:ext cx="21305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历史时间线面板与页面主题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460857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▪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28048" y="4608576"/>
            <a:ext cx="21305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8 组集成测试（含并发场景）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" y="5468112"/>
            <a:ext cx="11064240" cy="804672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" y="559612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分工原则：</a:t>
            </a:r>
            <a:r>
              <a:rPr sz="11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每人端到端负责一个模块的后端 + 前端 + 测试 + 文档，不做前后端割裂；</a:t>
            </a:r>
          </a:p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协作方式：</a:t>
            </a:r>
            <a:r>
              <a:rPr sz="11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feature 分支开发 → PR → 至少 1 人 Code Review → 合入 develop；每日 15 分钟站会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SafePay · The Chosen One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8686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系统功能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984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FEATURES &amp; APIs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27632"/>
            <a:ext cx="502920" cy="411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84708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功能地图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286000"/>
            <a:ext cx="40690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286000"/>
            <a:ext cx="64008" cy="71323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68296"/>
            <a:ext cx="3749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账户全景 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70048"/>
            <a:ext cx="3749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固定账户的余额 + 收支支付归集（故事主线）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08960"/>
            <a:ext cx="40690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108960"/>
            <a:ext cx="64008" cy="71323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91256"/>
            <a:ext cx="3749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支付创建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93008"/>
            <a:ext cx="3749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同步走完创建→校验→发送→完成全流程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31920"/>
            <a:ext cx="40690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931920"/>
            <a:ext cx="64008" cy="71323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014215"/>
            <a:ext cx="3749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支付查询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15968"/>
            <a:ext cx="3749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单笔详情 / 列表 / 按状态筛选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54880"/>
            <a:ext cx="40690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754880"/>
            <a:ext cx="64008" cy="7132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837176"/>
            <a:ext cx="3749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历史追踪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138928"/>
            <a:ext cx="3749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完整状态迁移时间线（含失败原因）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577840"/>
            <a:ext cx="40690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5577840"/>
            <a:ext cx="64008" cy="71323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660136"/>
            <a:ext cx="3749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Web 控制台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961888"/>
            <a:ext cx="3749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创建、列表、历史、余额 5 大面板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184708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REST API 一览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83480" y="2286000"/>
            <a:ext cx="6656832" cy="420624"/>
          </a:xfrm>
          <a:prstGeom prst="roundRect">
            <a:avLst>
              <a:gd name="adj" fmla="val 4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38928" y="236829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2368296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2368296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2706624"/>
            <a:ext cx="665683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38928" y="2798064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POST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279806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/api/payments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2798064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创建支付（幂等）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83480" y="3163824"/>
            <a:ext cx="6656832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38928" y="3255264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GET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325526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/api/payments/{id}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3255264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查询单笔支付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83480" y="3621024"/>
            <a:ext cx="665683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38928" y="3712463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GET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3712463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/api/payments?status=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3712463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支付列表 · 状态筛选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4078224"/>
            <a:ext cx="6656832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38928" y="4169663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GET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4169663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/api/payments/{id}/history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4169663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支付状态历史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83480" y="4535424"/>
            <a:ext cx="665683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38928" y="4626864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GET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72200" y="462686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/api/accounts/{no}/balance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18320" y="4626864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账户余额查询 ★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983480" y="5138928"/>
            <a:ext cx="6656832" cy="1389888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30368" y="5285232"/>
            <a:ext cx="6217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1" i="0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账户视图：</a:t>
            </a:r>
            <a:r>
              <a:rPr sz="110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余额接口 + 支付列表组合出固定账户的收支全貌（★ 故事主线）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接口文档：</a:t>
            </a:r>
            <a:r>
              <a:rPr sz="110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Swagger UI（/swagger-ui.html）在线查看与调试全部接口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统一响应：</a:t>
            </a:r>
            <a:r>
              <a:rPr sz="110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Result&lt;T&gt; = { code, message, data }，错误以标准错误码返回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SafePay · The Chosen One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8686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核心流程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984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STATE MACHINE &amp; PAYMENT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27632"/>
            <a:ext cx="502920" cy="411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81051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支付状态机（5 状态）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267712"/>
            <a:ext cx="1920240" cy="5486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CREATED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97479" y="2542032"/>
            <a:ext cx="475489" cy="0"/>
          </a:xfrm>
          <a:prstGeom prst="line">
            <a:avLst/>
          </a:prstGeom>
          <a:ln w="25400">
            <a:solidFill>
              <a:srgbClr val="05966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18688" y="2267712"/>
            <a:ext cx="1920240" cy="5486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VALIDATED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166360" y="2542032"/>
            <a:ext cx="475488" cy="0"/>
          </a:xfrm>
          <a:prstGeom prst="line">
            <a:avLst/>
          </a:prstGeom>
          <a:ln w="25400">
            <a:solidFill>
              <a:srgbClr val="05966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87568" y="2267712"/>
            <a:ext cx="1920240" cy="54864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35240" y="2542032"/>
            <a:ext cx="475488" cy="0"/>
          </a:xfrm>
          <a:prstGeom prst="line">
            <a:avLst/>
          </a:prstGeom>
          <a:ln w="25400">
            <a:solidFill>
              <a:srgbClr val="05966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56448" y="2267712"/>
            <a:ext cx="1920240" cy="54864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COMPLETED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75887" y="3310128"/>
            <a:ext cx="1920240" cy="54864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FAILED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09928" y="2834640"/>
            <a:ext cx="2926079" cy="457200"/>
          </a:xfrm>
          <a:prstGeom prst="line">
            <a:avLst/>
          </a:prstGeom>
          <a:ln w="19050">
            <a:solidFill>
              <a:srgbClr val="DC262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178808" y="2834640"/>
            <a:ext cx="457199" cy="457200"/>
          </a:xfrm>
          <a:prstGeom prst="line">
            <a:avLst/>
          </a:prstGeom>
          <a:ln w="19050">
            <a:solidFill>
              <a:srgbClr val="DC262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4636007" y="2834640"/>
            <a:ext cx="2011681" cy="457200"/>
          </a:xfrm>
          <a:prstGeom prst="line">
            <a:avLst/>
          </a:prstGeom>
          <a:ln w="19050">
            <a:solidFill>
              <a:srgbClr val="DC262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9808" y="287121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任意阶段校验 / 处理失败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346704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COMPLETED / FAILED 为终态，
非法迁移返回 400 错误码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04164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创建支付 · 同步 9 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425696"/>
            <a:ext cx="3602736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449884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4471416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请求字段校验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4709159"/>
            <a:ext cx="29992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金额 / 账户 / 币种 / 幂等键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4425696"/>
            <a:ext cx="3602736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25112" y="449884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4024" y="4471416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幂等检查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64024" y="4709159"/>
            <a:ext cx="29992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同 key 直接返回已有支付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36992" y="4425696"/>
            <a:ext cx="3602736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10144" y="449884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49056" y="4471416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落库 CREATED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49056" y="4709159"/>
            <a:ext cx="29992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写入首条历史记录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001768"/>
            <a:ext cx="3602736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" y="507492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" y="5047488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账户与余额校验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" y="5285231"/>
            <a:ext cx="29992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存在性 + 余额充足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51960" y="5001768"/>
            <a:ext cx="3602736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325112" y="507492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64024" y="5047488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→ VALIDATED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64024" y="5285231"/>
            <a:ext cx="29992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业务校验全部通过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36992" y="5001768"/>
            <a:ext cx="3602736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010144" y="507492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49056" y="5047488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预留余额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49056" y="5285231"/>
            <a:ext cx="29992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条件扣减 + RESERVE 流水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5577840"/>
            <a:ext cx="3602736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40080" y="565099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8992" y="5623559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→ SENT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" y="5861303"/>
            <a:ext cx="29992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模拟发送至目标系统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51960" y="5577840"/>
            <a:ext cx="3602736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325112" y="565099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64024" y="5623559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→ COMPLETED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64024" y="5861303"/>
            <a:ext cx="29992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确认处理成功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936992" y="5577840"/>
            <a:ext cx="3602736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010144" y="565099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49056" y="5623559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资金入账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49056" y="5861303"/>
            <a:ext cx="29992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源 DEBIT + 目标 CREDIT 流水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66928" y="6144768"/>
            <a:ext cx="11064240" cy="329184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1248" y="6195060"/>
            <a:ext cx="10698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失败兜底：</a:t>
            </a: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任一步骤失败 → 支付标记 FAILED + 写入 RELEASE 流水释放预留 + 全程留痕于 payment_history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SafePay · The Chosen One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8686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数据库设计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984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MySQL · paymentDB · 4 张表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27632"/>
            <a:ext cx="502920" cy="411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883664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883664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payments</a:t>
            </a:r>
            <a:r>
              <a:rPr sz="950" b="0" i="0">
                <a:solidFill>
                  <a:srgbClr val="E8ECF8"/>
                </a:solidFill>
                <a:latin typeface="Microsoft YaHei"/>
                <a:ea typeface="Microsoft YaHei"/>
                <a:cs typeface="Microsoft YaHei"/>
              </a:rPr>
              <a:t>   支付主表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450592"/>
            <a:ext cx="24140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id  CHAR(36)  PK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2450592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UUID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692908"/>
            <a:ext cx="24140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idempotency_key  UNIQUE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2692908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幂等键，防重复提交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935224"/>
            <a:ext cx="24140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source / destination_account 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2935224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双账户索引，支撑账户视图归集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177540"/>
            <a:ext cx="24140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amount DECIMAL(18,2) · currency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177540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金额与币种（ISO 4217）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419856"/>
            <a:ext cx="24140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status · error_code · error_message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0672" y="3419856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当前状态与失败信息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662172"/>
            <a:ext cx="24140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created_at / updated_at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90672" y="3662172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索引：status / created_at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443984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" y="4443984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payment_history</a:t>
            </a:r>
            <a:r>
              <a:rPr sz="950" b="0" i="0">
                <a:solidFill>
                  <a:srgbClr val="E8ECF8"/>
                </a:solidFill>
                <a:latin typeface="Microsoft YaHei"/>
                <a:ea typeface="Microsoft YaHei"/>
                <a:cs typeface="Microsoft YaHei"/>
              </a:rPr>
              <a:t>   支付状态历史（审计）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010912"/>
            <a:ext cx="24140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id  CHAR(36)  PK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0672" y="5010912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UUID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253228"/>
            <a:ext cx="24140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payment_id  FK → payments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90672" y="5253228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级联删除 CASCADE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495544"/>
            <a:ext cx="24140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from_status → to_status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90672" y="5495544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状态迁移（首条 from 为 NULL）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737859"/>
            <a:ext cx="24140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note · error_code · created_at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90672" y="5737859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说明、错误码、变更时间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82512" y="1883664"/>
            <a:ext cx="5248656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82512" y="1883664"/>
            <a:ext cx="5248656" cy="475488"/>
          </a:xfrm>
          <a:prstGeom prst="roundRect">
            <a:avLst>
              <a:gd name="adj" fmla="val 6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accounts</a:t>
            </a:r>
            <a:r>
              <a:rPr sz="950" b="0" i="0">
                <a:solidFill>
                  <a:srgbClr val="E8ECF8"/>
                </a:solidFill>
                <a:latin typeface="Microsoft YaHei"/>
                <a:ea typeface="Microsoft YaHei"/>
                <a:cs typeface="Microsoft YaHei"/>
              </a:rPr>
              <a:t>   账户余额表 ★ 视图锚点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8816" y="2450592"/>
            <a:ext cx="23094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account_no  VARCHAR(64)  PK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96893" y="2450592"/>
            <a:ext cx="26243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账户号 · 管理员视图入口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8816" y="2692908"/>
            <a:ext cx="23094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balance  DECIMAL(18,2)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96893" y="2692908"/>
            <a:ext cx="26243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当前余额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8816" y="2935224"/>
            <a:ext cx="23094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updated_at  TIMESTAMP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96893" y="2935224"/>
            <a:ext cx="26243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条件更新防并发超支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82512" y="3575304"/>
            <a:ext cx="5248656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382512" y="3575304"/>
            <a:ext cx="5248656" cy="475488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balance_ledger</a:t>
            </a:r>
            <a:r>
              <a:rPr sz="950" b="0" i="0">
                <a:solidFill>
                  <a:srgbClr val="E8ECF8"/>
                </a:solidFill>
                <a:latin typeface="Microsoft YaHei"/>
                <a:ea typeface="Microsoft YaHei"/>
                <a:cs typeface="Microsoft YaHei"/>
              </a:rPr>
              <a:t>   余额流水表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8816" y="4142232"/>
            <a:ext cx="23094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id  CHAR(36)  PK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96893" y="4142232"/>
            <a:ext cx="26243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UUID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8816" y="4384548"/>
            <a:ext cx="23094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account_no ★ · payment_id FK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96893" y="4384548"/>
            <a:ext cx="26243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按账户记账 · 关联支付（SET NULL）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8816" y="4626864"/>
            <a:ext cx="23094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direction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96893" y="4626864"/>
            <a:ext cx="26243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RESERVE 预留 / RELEASE 释放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28816" y="4869179"/>
            <a:ext cx="23094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96893" y="4869179"/>
            <a:ext cx="26243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DEBIT 扣款 / CREDIT 入账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28816" y="5111495"/>
            <a:ext cx="23094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amount · balance_before / after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96893" y="5111495"/>
            <a:ext cx="26243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变动金额与前后余额快照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28816" y="5353811"/>
            <a:ext cx="23094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created_at  TIMESTAMP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96893" y="5353811"/>
            <a:ext cx="26243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索引：account_no / payment_id</a:t>
            </a:r>
          </a:p>
        </p:txBody>
      </p:sp>
      <p:cxnSp>
        <p:nvCxnSpPr>
          <p:cNvPr id="53" name="Connector 52"/>
          <p:cNvCxnSpPr/>
          <p:nvPr/>
        </p:nvCxnSpPr>
        <p:spPr>
          <a:xfrm flipV="1">
            <a:off x="3291840" y="4206240"/>
            <a:ext cx="0" cy="237744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3401568" y="4169663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FK 1 : N</a:t>
            </a:r>
          </a:p>
        </p:txBody>
      </p:sp>
      <p:cxnSp>
        <p:nvCxnSpPr>
          <p:cNvPr id="55" name="Connector 54"/>
          <p:cNvCxnSpPr/>
          <p:nvPr/>
        </p:nvCxnSpPr>
        <p:spPr>
          <a:xfrm flipV="1">
            <a:off x="9052560" y="3337560"/>
            <a:ext cx="0" cy="237744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9162288" y="3310128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按账户记账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053328" y="4937760"/>
            <a:ext cx="292608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870448" y="50109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630936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设计要点：</a:t>
            </a:r>
            <a:r>
              <a:rPr sz="1050" b="0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★ 双账户索引 + ledger 账户索引是“管理员账户视图”的查询基础；idempotency_key 唯一约束兜底幂等；金额统一 DECIMAL(18,2) 避免浮点误差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SafePay · The Chosen One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8686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技术栈与框架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984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TECH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27632"/>
            <a:ext cx="502920" cy="411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883664"/>
            <a:ext cx="5468112" cy="14264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2020824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核心框架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487168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Java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8688" y="2487168"/>
            <a:ext cx="2679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编程语言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752344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Spring Boot 4.1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2752344"/>
            <a:ext cx="2679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应用框架 / 内嵌 Tomcat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017520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Spring MVC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8688" y="3017520"/>
            <a:ext cx="2679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REST API 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883664"/>
            <a:ext cx="5468112" cy="14264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27648" y="2020824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数据访问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87168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MyBatis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487168"/>
            <a:ext cx="2679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Mapper 接口 + XML 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752344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MySQL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33104" y="2752344"/>
            <a:ext cx="2679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InnoDB · utf8mb4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17520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mysql-connector-j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33104" y="3017520"/>
            <a:ext cx="2679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JDBC 驱动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474720"/>
            <a:ext cx="5468112" cy="14264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3611879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API 文档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4078224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Springdoc OpenAPI 2.2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18688" y="4078224"/>
            <a:ext cx="2679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OpenAPI 3 规范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4343400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Swagger 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18688" y="4343400"/>
            <a:ext cx="2679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在线接口文档与调试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3474720"/>
            <a:ext cx="5468112" cy="14264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27648" y="3611879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前端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078224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HTML5 / CSS3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33104" y="4078224"/>
            <a:ext cx="2679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暗色主题控制台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343400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原生 JavaScript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33104" y="4343400"/>
            <a:ext cx="2679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Fetch API 调用后端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608576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静态资源托管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4608576"/>
            <a:ext cx="2679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由 Spring Boot 直接提供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065776"/>
            <a:ext cx="5468112" cy="14264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13232" y="5202936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工程化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" y="5669280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Maven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18688" y="5669280"/>
            <a:ext cx="2679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构建与依赖管理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" y="5934456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Lombok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18688" y="5934456"/>
            <a:ext cx="2679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简化样板代码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" y="6199632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Git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18688" y="6199632"/>
            <a:ext cx="2679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feature 分支 + PR 评审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81344" y="5065776"/>
            <a:ext cx="5468112" cy="14264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327648" y="5202936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日志与测试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669280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SLF4J + Logback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33104" y="5669280"/>
            <a:ext cx="2679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控制台 + 滚动文件日志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5934456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Spring Boot Test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33104" y="5934456"/>
            <a:ext cx="2679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MockMvc 集成测试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6199632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并发用例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33104" y="6199632"/>
            <a:ext cx="2679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同 key 并发只落一笔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SafePay · The Chosen One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4206240"/>
            <a:ext cx="4572000" cy="4572000"/>
          </a:xfrm>
          <a:prstGeom prst="ellipse">
            <a:avLst/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1280160"/>
            <a:ext cx="4023360" cy="4023360"/>
          </a:xfrm>
          <a:prstGeom prst="ellipse">
            <a:avLst/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10312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感谢聆听 · Q&amp;A</a:t>
            </a:r>
          </a:p>
        </p:txBody>
      </p:sp>
      <p:sp>
        <p:nvSpPr>
          <p:cNvPr id="6" name="Rectangle 5"/>
          <p:cNvSpPr/>
          <p:nvPr/>
        </p:nvSpPr>
        <p:spPr>
          <a:xfrm>
            <a:off x="5775807" y="3172968"/>
            <a:ext cx="64008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93A4C8"/>
                </a:solidFill>
                <a:latin typeface="Microsoft YaHei"/>
                <a:ea typeface="Microsoft YaHei"/>
                <a:cs typeface="Microsoft YaHei"/>
              </a:rPr>
              <a:t>SafePay 支付处理系统 · The Chosen One 团队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41167" y="3977639"/>
            <a:ext cx="6309360" cy="512064"/>
          </a:xfrm>
          <a:prstGeom prst="roundRect">
            <a:avLst>
              <a:gd name="adj" fmla="val 50000"/>
            </a:avLst>
          </a:prstGeom>
          <a:solidFill>
            <a:srgbClr val="1E2E52"/>
          </a:solidFill>
          <a:ln w="12700">
            <a:solidFill>
              <a:srgbClr val="3A4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8A9BF0"/>
                </a:solidFill>
                <a:latin typeface="Microsoft YaHei"/>
                <a:ea typeface="Microsoft YaHei"/>
                <a:cs typeface="Microsoft YaHei"/>
              </a:rPr>
              <a:t>故事主线  </a:t>
            </a:r>
            <a:r>
              <a:rPr sz="11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一个账户，看清它的全部支付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70916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66769E"/>
                </a:solidFill>
                <a:latin typeface="Microsoft YaHei"/>
                <a:ea typeface="Microsoft YaHei"/>
                <a:cs typeface="Microsoft YaHei"/>
              </a:rPr>
              <a:t>Java 17 · Spring Boot 4 · MyBatis · MySQL · Swagger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SafePay 支付处理系统 - 项目展示</dc:title>
  <dc:subject/>
  <dc:creator>The Chosen One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